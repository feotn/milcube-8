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4" r:id="rId6"/>
    <p:sldId id="263" r:id="rId7"/>
    <p:sldId id="262" r:id="rId8"/>
    <p:sldId id="265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F9A23-ECE9-1D55-213C-B9882166F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611E34-F419-BDD9-C471-49F4B4BB5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7580EC-7373-CE6F-EBA6-F86673D7F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6C2667-95DA-9B15-D45D-E733515C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57C37-FD11-8947-E9FF-EE029571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9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32CB3-3210-3D05-31A7-8ED844C64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7027BB-A471-C1CA-8AE5-472A531A3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6B7B8-16B8-C4A7-927D-8B3DB979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1A166E-38E4-2902-01A7-8FB53708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531255-4037-502F-AFF5-4A731ACD2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28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635DA-31B1-ABF1-BC61-973DDEF6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38BB00-BB10-3D87-7F1D-AA11FF404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B59555-513A-FBA8-B302-1569B4B2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A93CAF-C2CC-AE97-5B68-C86616CE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92B12E-48B2-43A7-6C3B-7F71A815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06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2B025-6E20-8FF5-E823-F5C8E0D8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44D6D-1A0E-4FEF-96CF-65F964012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AB22E0-E8D0-615E-7758-E96AD9869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82DDAD-7F89-7946-AB3A-9452C6C1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38601B-9337-B0DA-E928-90B39805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231AAF-4872-5D76-29D4-D4841FC5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7B45B-3445-8F8E-22DF-3AD18948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17748A-F2D1-F3A0-0F48-C4812914D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34E52-1918-2F6E-0C6B-7E1830DCE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DFE63B-744E-38F0-8F11-14E2A19D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313C4D-2F17-979C-F133-750378439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7245C3-9C67-DF1F-27CE-F3AC0E968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DD68C0-27FC-81E1-24FE-69A2B1529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F64499-CE9A-EB0F-5E0F-C1CFB7DA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139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CF74-2FD0-61F5-96F9-7EF7E92D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F88800-4A1C-B81C-14D2-D0001B47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19A01A-4E00-560E-3904-DFD59387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05B3E5-76B7-44F1-4FFD-9B407F2D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56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63E6C7-C7F9-2F81-09A7-6E9EF3DE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CF3F36-EF83-E7E6-3F06-05489009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7C0DB5-33C4-BA10-BDFC-FC75109F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7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F3675-5889-031F-49F4-29BA40E1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2F07F5-A2BB-B689-8677-DBE2F3607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FF39BD-2121-3C93-AC8F-DEDFEA587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333FD3-774E-95DF-CCE3-664AAF17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72C0BE-BD46-A4E7-CD46-3394E693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1D47DA-F149-EECD-D1B6-EA643EA9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6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7BA63-1FB3-5175-0248-E0C937E96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C12EAE-AA21-92FF-CCCD-F8448672B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3F7A1C-8963-0721-0CBC-F6DD21D29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CE9D42-C454-75BF-8D48-1D316025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AE78CC-E3E4-DD15-0165-9575A25B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0B0097-CF31-BBB3-C561-DB1C4016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95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80512-9F3D-9F7B-C5D2-6F03862D9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FBF6E6-6808-7B74-C14E-C0B8256C3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378FC-6632-13D2-1784-66E26A1C5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B8F4A-A1F9-A28E-A13A-A119BA6A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3E131F-7583-8258-F666-A54953AB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33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B1987B3-FC48-BB2A-9606-F32F16241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EF2338-58F7-9C18-AE88-19A173829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0D106-DE8F-76D7-236F-3C12FBDA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FD5902-D34E-4E52-0422-B54AE1E7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23275-8696-D415-9A55-F82419A5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92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5788E7-2C58-01B4-3DDB-BACD8840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B8AB8A-A328-E77B-6BB5-81C5827FE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750655-B4DD-6E81-3527-DDE6C867B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21458-88A2-4EB9-8E36-0A8803FE040C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89F9A-DEFC-D723-FD85-4D1D4BF42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0D3B8-AA97-76D1-7482-41EC3F9A2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1B4ED-9495-4CB1-B210-153295F25E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07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C8957-78F3-B4DD-5631-8D31A8EA56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长白山火山口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016996-AFE0-9762-CE4C-D9C3B40571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91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5E678-4F24-31DD-7DA8-CE45EA8D0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F25D7B-C03B-E0D7-3B00-1AA3D99C1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Ps.</a:t>
            </a:r>
            <a:r>
              <a:rPr lang="zh-CN" altLang="en-US" sz="2000" dirty="0"/>
              <a:t>长白山是活火山，但并没有有熔岩的火山口，天池存在于火山坍塌下来遗留下的大坑。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优点</a:t>
            </a:r>
            <a:r>
              <a:rPr lang="en-US" altLang="zh-CN" sz="2000" dirty="0"/>
              <a:t>:</a:t>
            </a:r>
            <a:r>
              <a:rPr lang="zh-CN" altLang="en-US" sz="2000" dirty="0"/>
              <a:t>新颖，建立在灾难上的文明很加分，容易想出很多新的社会制度（下面的</a:t>
            </a:r>
            <a:r>
              <a:rPr lang="en-US" altLang="zh-CN" sz="2000" dirty="0"/>
              <a:t>ppt</a:t>
            </a:r>
            <a:r>
              <a:rPr lang="zh-CN" altLang="en-US" sz="2000" dirty="0"/>
              <a:t>会列出技术上可以解决的问题）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缺点：被问起来“火山爆发</a:t>
            </a:r>
            <a:r>
              <a:rPr lang="en-US" altLang="zh-CN" sz="2000" dirty="0"/>
              <a:t>/</a:t>
            </a:r>
            <a:r>
              <a:rPr lang="zh-CN" altLang="en-US" sz="2000" dirty="0"/>
              <a:t>地震了怎么办”没有完美的解决办法，但是火山距今已经</a:t>
            </a:r>
            <a:r>
              <a:rPr lang="en-US" altLang="zh-CN" sz="2000" dirty="0"/>
              <a:t>300</a:t>
            </a:r>
            <a:r>
              <a:rPr lang="zh-CN" altLang="en-US" sz="2000" dirty="0"/>
              <a:t>年没爆发了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8510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26168-9BEA-0AA9-2B91-1126ADC5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针对问题解决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D8BD84-845D-D4FC-F21B-495327C13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一、能量来源，利用方式</a:t>
            </a:r>
            <a:endParaRPr lang="en-US" altLang="zh-CN" dirty="0"/>
          </a:p>
          <a:p>
            <a:r>
              <a:rPr lang="zh-CN" altLang="en-US" b="1" dirty="0"/>
              <a:t>增强型地热系统（</a:t>
            </a:r>
            <a:r>
              <a:rPr lang="en-US" altLang="zh-CN" b="1" dirty="0"/>
              <a:t>EGS</a:t>
            </a:r>
            <a:r>
              <a:rPr lang="zh-CN" altLang="en-US" b="1" dirty="0"/>
              <a:t>） </a:t>
            </a:r>
            <a:r>
              <a:rPr lang="en-US" altLang="zh-CN" b="1" dirty="0"/>
              <a:t>- </a:t>
            </a:r>
            <a:r>
              <a:rPr lang="zh-CN" altLang="en-US" b="1" dirty="0"/>
              <a:t>主电站</a:t>
            </a:r>
            <a:endParaRPr lang="en-US" altLang="zh-CN" b="1" dirty="0"/>
          </a:p>
          <a:p>
            <a:r>
              <a:rPr lang="zh-CN" altLang="en-US" b="1" dirty="0"/>
              <a:t>有机朗肯循环（</a:t>
            </a:r>
            <a:r>
              <a:rPr lang="en-US" altLang="zh-CN" b="1" dirty="0"/>
              <a:t>ORC</a:t>
            </a:r>
            <a:r>
              <a:rPr lang="zh-CN" altLang="en-US" b="1" dirty="0"/>
              <a:t>）发电机 </a:t>
            </a:r>
            <a:r>
              <a:rPr lang="en-US" altLang="zh-CN" b="1" dirty="0"/>
              <a:t>- </a:t>
            </a:r>
            <a:r>
              <a:rPr lang="zh-CN" altLang="en-US" b="1" dirty="0"/>
              <a:t>废热回收与分布式供电</a:t>
            </a:r>
            <a:endParaRPr lang="en-US" altLang="zh-CN" b="1" dirty="0"/>
          </a:p>
          <a:p>
            <a:r>
              <a:rPr lang="zh-CN" altLang="en-US" b="1" dirty="0"/>
              <a:t>区域供暖管网</a:t>
            </a:r>
            <a:r>
              <a:rPr lang="zh-CN" altLang="en-US" dirty="0"/>
              <a:t>。将地热水直接泵入基地各个模块的换热器，为居住区、农业区供暖。</a:t>
            </a:r>
            <a:endParaRPr lang="en-US" altLang="zh-CN" dirty="0"/>
          </a:p>
          <a:p>
            <a:r>
              <a:rPr lang="zh-CN" altLang="en-US" b="1" dirty="0"/>
              <a:t>风能、太阳能：利用暴风雪的能量发电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823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D6CBF-C021-AC2F-98CE-764F18E2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空气稀薄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C6AF7F-3BCA-1214-B1FA-59835D167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加压氧舱</a:t>
            </a:r>
          </a:p>
        </p:txBody>
      </p:sp>
    </p:spTree>
    <p:extLst>
      <p:ext uri="{BB962C8B-B14F-4D97-AF65-F5344CB8AC3E}">
        <p14:creationId xmlns:p14="http://schemas.microsoft.com/office/powerpoint/2010/main" val="61165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3F73-B157-B6B2-5A07-8F27AAAE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F35A1-CAA1-5249-3777-47ECBE80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地震？灾害？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F0B436-50EE-FE0C-18FE-00721084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核心设施</a:t>
            </a:r>
            <a:r>
              <a:rPr lang="zh-CN" altLang="en-US" dirty="0"/>
              <a:t>：将核心生活区、生命支持系统、能源中枢等</a:t>
            </a:r>
            <a:r>
              <a:rPr lang="zh-CN" altLang="en-US" b="1" dirty="0"/>
              <a:t>最关键模块</a:t>
            </a:r>
            <a:r>
              <a:rPr lang="zh-CN" altLang="en-US" dirty="0"/>
              <a:t>建设在</a:t>
            </a:r>
            <a:r>
              <a:rPr lang="zh-CN" altLang="en-US" b="1" dirty="0"/>
              <a:t>山体内部的隧道和洞穴中</a:t>
            </a:r>
            <a:r>
              <a:rPr lang="zh-CN" altLang="en-US" dirty="0"/>
              <a:t>，利用数百米厚的岩石作为天然屏障，抵御碎屑流、空降碎屑和辐射。</a:t>
            </a:r>
          </a:p>
          <a:p>
            <a:pPr lvl="1"/>
            <a:r>
              <a:rPr lang="zh-CN" altLang="en-US" b="1" dirty="0"/>
              <a:t>设计</a:t>
            </a:r>
            <a:r>
              <a:rPr lang="zh-CN" altLang="en-US" dirty="0"/>
              <a:t>：</a:t>
            </a:r>
            <a:r>
              <a:rPr lang="zh-CN" altLang="en-US" b="1" dirty="0"/>
              <a:t>模块化蜂窝结构</a:t>
            </a:r>
            <a:r>
              <a:rPr lang="zh-CN" altLang="en-US" dirty="0"/>
              <a:t>。基地由数百个相互连接的独立舱室组成。每个舱室都是一个独立的压力容器和生命支持单元。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964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AF838-729B-5B39-6853-B6B0D0022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水资源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12532E-EA90-D285-0B50-1F2F1A86B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长白山年降水量</a:t>
            </a:r>
            <a:r>
              <a:rPr lang="en-US" altLang="zh-CN" b="1" dirty="0"/>
              <a:t>1300mm</a:t>
            </a:r>
          </a:p>
          <a:p>
            <a:r>
              <a:rPr lang="zh-CN" altLang="en-US" b="1" dirty="0"/>
              <a:t>天池水</a:t>
            </a:r>
            <a:r>
              <a:rPr lang="en-US" altLang="zh-CN" b="1" dirty="0"/>
              <a:t>100</a:t>
            </a:r>
            <a:r>
              <a:rPr lang="zh-CN" altLang="en-US" b="1" dirty="0"/>
              <a:t>年管够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330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C7F96-3276-FB46-A4E8-863326AE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B32FC-B821-E277-AEAE-B80CB4EA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建筑布局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9AE8A-1DFD-E177-14C0-F996767DE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zh-CN" altLang="en-US" b="1" dirty="0"/>
              <a:t>建筑分布与布局：同心圆与放射状</a:t>
            </a:r>
          </a:p>
          <a:p>
            <a:r>
              <a:rPr lang="zh-CN" altLang="en-US" dirty="0"/>
              <a:t>基地布局绝非随意，它反映了能量流和社会等级。</a:t>
            </a:r>
          </a:p>
          <a:p>
            <a:r>
              <a:rPr lang="zh-CN" altLang="en-US" b="1" dirty="0"/>
              <a:t>核心区 </a:t>
            </a:r>
            <a:r>
              <a:rPr lang="en-US" altLang="zh-CN" b="1" dirty="0"/>
              <a:t>(The Core) - “</a:t>
            </a:r>
            <a:r>
              <a:rPr lang="zh-CN" altLang="en-US" b="1" dirty="0"/>
              <a:t>热核”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位置</a:t>
            </a:r>
            <a:r>
              <a:rPr lang="zh-CN" altLang="en-US" dirty="0"/>
              <a:t>：位于整个基地最中心、最受保护的位置，通常直接嵌入最稳定的岩体中。</a:t>
            </a:r>
          </a:p>
          <a:p>
            <a:pPr lvl="1"/>
            <a:r>
              <a:rPr lang="zh-CN" altLang="en-US" b="1" dirty="0"/>
              <a:t>功能</a:t>
            </a:r>
            <a:r>
              <a:rPr lang="zh-CN" altLang="en-US" dirty="0"/>
              <a:t>：</a:t>
            </a:r>
            <a:r>
              <a:rPr lang="zh-CN" altLang="en-US" b="1" dirty="0"/>
              <a:t>地热主电站</a:t>
            </a:r>
            <a:r>
              <a:rPr lang="zh-CN" altLang="en-US" dirty="0"/>
              <a:t>、</a:t>
            </a:r>
            <a:r>
              <a:rPr lang="zh-CN" altLang="en-US" b="1" dirty="0"/>
              <a:t>能源调度中心</a:t>
            </a:r>
            <a:r>
              <a:rPr lang="zh-CN" altLang="en-US" dirty="0"/>
              <a:t>、</a:t>
            </a:r>
            <a:r>
              <a:rPr lang="zh-CN" altLang="en-US" b="1" dirty="0"/>
              <a:t>主电网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b="1" dirty="0"/>
              <a:t>象征</a:t>
            </a:r>
            <a:r>
              <a:rPr lang="zh-CN" altLang="en-US" dirty="0"/>
              <a:t>：这里是社会的绝对核心，是“地心工程师公会”的神殿。普通居民未经许可不得进入。</a:t>
            </a:r>
          </a:p>
          <a:p>
            <a:r>
              <a:rPr lang="zh-CN" altLang="en-US" b="1" dirty="0"/>
              <a:t>内环区 </a:t>
            </a:r>
            <a:r>
              <a:rPr lang="en-US" altLang="zh-CN" b="1" dirty="0"/>
              <a:t>(The Inner Ring) - “</a:t>
            </a:r>
            <a:r>
              <a:rPr lang="zh-CN" altLang="en-US" b="1" dirty="0"/>
              <a:t>生命循环带”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位置</a:t>
            </a:r>
            <a:r>
              <a:rPr lang="zh-CN" altLang="en-US" dirty="0"/>
              <a:t>：紧密环绕核心区。</a:t>
            </a:r>
          </a:p>
          <a:p>
            <a:pPr lvl="1"/>
            <a:r>
              <a:rPr lang="zh-CN" altLang="en-US" b="1" dirty="0"/>
              <a:t>功能</a:t>
            </a:r>
            <a:r>
              <a:rPr lang="zh-CN" altLang="en-US" dirty="0"/>
              <a:t>：</a:t>
            </a:r>
            <a:r>
              <a:rPr lang="zh-CN" altLang="en-US" b="1" dirty="0"/>
              <a:t>生命支持系统</a:t>
            </a:r>
            <a:r>
              <a:rPr lang="zh-CN" altLang="en-US" dirty="0"/>
              <a:t>（水循环、大气控制）、</a:t>
            </a:r>
            <a:r>
              <a:rPr lang="zh-CN" altLang="en-US" b="1" dirty="0"/>
              <a:t>主仓储</a:t>
            </a:r>
            <a:r>
              <a:rPr lang="zh-CN" altLang="en-US" dirty="0"/>
              <a:t>、</a:t>
            </a:r>
            <a:r>
              <a:rPr lang="zh-CN" altLang="en-US" b="1" dirty="0"/>
              <a:t>垂直农业综合体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b="1" dirty="0"/>
              <a:t>逻辑</a:t>
            </a:r>
            <a:r>
              <a:rPr lang="zh-CN" altLang="en-US" dirty="0"/>
              <a:t>：需要稳定能源和热量的最关键生存设施，紧贴能源核心，缩短能量输送距离，减少损耗。</a:t>
            </a:r>
          </a:p>
          <a:p>
            <a:r>
              <a:rPr lang="zh-CN" altLang="en-US" b="1" dirty="0"/>
              <a:t>中环区 </a:t>
            </a:r>
            <a:r>
              <a:rPr lang="en-US" altLang="zh-CN" b="1" dirty="0"/>
              <a:t>(The Middle Ring) - “</a:t>
            </a:r>
            <a:r>
              <a:rPr lang="zh-CN" altLang="en-US" b="1" dirty="0"/>
              <a:t>栖息带”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位置</a:t>
            </a:r>
            <a:r>
              <a:rPr lang="zh-CN" altLang="en-US" dirty="0"/>
              <a:t>：围绕内环区。</a:t>
            </a:r>
          </a:p>
          <a:p>
            <a:pPr lvl="1"/>
            <a:r>
              <a:rPr lang="zh-CN" altLang="en-US" b="1" dirty="0"/>
              <a:t>功能</a:t>
            </a:r>
            <a:r>
              <a:rPr lang="zh-CN" altLang="en-US" dirty="0"/>
              <a:t>：</a:t>
            </a:r>
            <a:r>
              <a:rPr lang="zh-CN" altLang="en-US" b="1" dirty="0"/>
              <a:t>居住舱集群</a:t>
            </a:r>
            <a:r>
              <a:rPr lang="zh-CN" altLang="en-US" dirty="0"/>
              <a:t>、</a:t>
            </a:r>
            <a:r>
              <a:rPr lang="zh-CN" altLang="en-US" b="1" dirty="0"/>
              <a:t>公共空间</a:t>
            </a:r>
            <a:r>
              <a:rPr lang="zh-CN" altLang="en-US" dirty="0"/>
              <a:t>（食堂、广场、医院、学校）。</a:t>
            </a:r>
          </a:p>
          <a:p>
            <a:pPr lvl="1"/>
            <a:r>
              <a:rPr lang="zh-CN" altLang="en-US" b="1" dirty="0"/>
              <a:t>逻辑</a:t>
            </a:r>
            <a:r>
              <a:rPr lang="zh-CN" altLang="en-US" dirty="0"/>
              <a:t>：居民生活在生命支持系统和能源系统的直接庇护下。公共空间通常设计在通往内环的主要通道节点上，形成社区中心。</a:t>
            </a:r>
          </a:p>
          <a:p>
            <a:r>
              <a:rPr lang="zh-CN" altLang="en-US" b="1" dirty="0"/>
              <a:t>外环区 </a:t>
            </a:r>
            <a:r>
              <a:rPr lang="en-US" altLang="zh-CN" b="1" dirty="0"/>
              <a:t>(The Outer Ring) &amp; </a:t>
            </a:r>
            <a:r>
              <a:rPr lang="zh-CN" altLang="en-US" b="1" dirty="0"/>
              <a:t>外围点 </a:t>
            </a:r>
            <a:r>
              <a:rPr lang="en-US" altLang="zh-CN" b="1" dirty="0"/>
              <a:t>- “</a:t>
            </a:r>
            <a:r>
              <a:rPr lang="zh-CN" altLang="en-US" b="1" dirty="0"/>
              <a:t>接口与防御带”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位置</a:t>
            </a:r>
            <a:r>
              <a:rPr lang="zh-CN" altLang="en-US" dirty="0"/>
              <a:t>：最外围，甚至部分伸出山体。</a:t>
            </a:r>
          </a:p>
          <a:p>
            <a:pPr lvl="1"/>
            <a:r>
              <a:rPr lang="zh-CN" altLang="en-US" b="1" dirty="0"/>
              <a:t>功能</a:t>
            </a:r>
            <a:r>
              <a:rPr lang="zh-CN" altLang="en-US" dirty="0"/>
              <a:t>：</a:t>
            </a:r>
            <a:r>
              <a:rPr lang="zh-CN" altLang="en-US" b="1" dirty="0"/>
              <a:t>外部观测站</a:t>
            </a:r>
            <a:r>
              <a:rPr lang="zh-CN" altLang="en-US" dirty="0"/>
              <a:t>、</a:t>
            </a:r>
            <a:r>
              <a:rPr lang="zh-CN" altLang="en-US" b="1" dirty="0"/>
              <a:t>地质传感器阵列</a:t>
            </a:r>
            <a:r>
              <a:rPr lang="zh-CN" altLang="en-US" dirty="0"/>
              <a:t>、</a:t>
            </a:r>
            <a:r>
              <a:rPr lang="zh-CN" altLang="en-US" b="1" dirty="0"/>
              <a:t>出入口气闸</a:t>
            </a:r>
            <a:r>
              <a:rPr lang="zh-CN" altLang="en-US" dirty="0"/>
              <a:t>、</a:t>
            </a:r>
            <a:r>
              <a:rPr lang="en-US" altLang="zh-CN" b="1" dirty="0"/>
              <a:t>VAWT</a:t>
            </a:r>
            <a:r>
              <a:rPr lang="zh-CN" altLang="en-US" b="1" dirty="0"/>
              <a:t>风力发电机控制室</a:t>
            </a:r>
            <a:r>
              <a:rPr lang="zh-CN" altLang="en-US" dirty="0"/>
              <a:t>、</a:t>
            </a:r>
            <a:r>
              <a:rPr lang="zh-CN" altLang="en-US" b="1" dirty="0"/>
              <a:t>无人机机库</a:t>
            </a:r>
            <a:r>
              <a:rPr lang="zh-CN" altLang="en-US" dirty="0"/>
              <a:t>、</a:t>
            </a:r>
            <a:r>
              <a:rPr lang="zh-CN" altLang="en-US" b="1" dirty="0"/>
              <a:t>防御性结构（牺牲层）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b="1" dirty="0"/>
              <a:t>逻辑</a:t>
            </a:r>
            <a:r>
              <a:rPr lang="zh-CN" altLang="en-US" dirty="0"/>
              <a:t>：这里是与外部危险环境接触的前线。所有设施都具备可封锁、可牺牲的特性。</a:t>
            </a:r>
          </a:p>
          <a:p>
            <a:r>
              <a:rPr lang="zh-CN" altLang="en-US" b="1" dirty="0"/>
              <a:t>地下层 </a:t>
            </a:r>
            <a:r>
              <a:rPr lang="en-US" altLang="zh-CN" b="1" dirty="0"/>
              <a:t>(The Under-Deck) - “</a:t>
            </a:r>
            <a:r>
              <a:rPr lang="zh-CN" altLang="en-US" b="1" dirty="0"/>
              <a:t>脉络”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功能</a:t>
            </a:r>
            <a:r>
              <a:rPr lang="zh-CN" altLang="en-US" dirty="0"/>
              <a:t>：所有主要的</a:t>
            </a:r>
            <a:r>
              <a:rPr lang="zh-CN" altLang="en-US" b="1" dirty="0"/>
              <a:t>能源管道</a:t>
            </a:r>
            <a:r>
              <a:rPr lang="zh-CN" altLang="en-US" dirty="0"/>
              <a:t>（地热蒸汽、热水）、</a:t>
            </a:r>
            <a:r>
              <a:rPr lang="zh-CN" altLang="en-US" b="1" dirty="0"/>
              <a:t>水管</a:t>
            </a:r>
            <a:r>
              <a:rPr lang="zh-CN" altLang="en-US" dirty="0"/>
              <a:t>、</a:t>
            </a:r>
            <a:r>
              <a:rPr lang="zh-CN" altLang="en-US" b="1" dirty="0"/>
              <a:t>通风管道</a:t>
            </a:r>
            <a:r>
              <a:rPr lang="zh-CN" altLang="en-US" dirty="0"/>
              <a:t>、</a:t>
            </a:r>
            <a:r>
              <a:rPr lang="zh-CN" altLang="en-US" b="1" dirty="0"/>
              <a:t>电缆</a:t>
            </a:r>
            <a:r>
              <a:rPr lang="zh-CN" altLang="en-US" dirty="0"/>
              <a:t>和</a:t>
            </a:r>
            <a:r>
              <a:rPr lang="zh-CN" altLang="en-US" b="1" dirty="0"/>
              <a:t>物流传输带</a:t>
            </a:r>
            <a:r>
              <a:rPr lang="zh-CN" altLang="en-US" dirty="0"/>
              <a:t>都集中在这一层，像城市的血管和神经，统一维护和管理。</a:t>
            </a:r>
          </a:p>
        </p:txBody>
      </p:sp>
    </p:spTree>
    <p:extLst>
      <p:ext uri="{BB962C8B-B14F-4D97-AF65-F5344CB8AC3E}">
        <p14:creationId xmlns:p14="http://schemas.microsoft.com/office/powerpoint/2010/main" val="389025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D4809-1830-2617-0E43-E8E40FF5C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能量计算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89199-5C11-E2C1-B2B9-DCA372A1A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总能量产出</a:t>
            </a:r>
            <a:r>
              <a:rPr lang="zh-CN" altLang="en-US" dirty="0"/>
              <a:t>：</a:t>
            </a:r>
            <a:r>
              <a:rPr lang="en-US" altLang="zh-CN" dirty="0"/>
              <a:t>78,840 MWh + 13,140 MWh + 1,314 MWh = 93,294 MWh/</a:t>
            </a:r>
            <a:r>
              <a:rPr lang="zh-CN" altLang="en-US" dirty="0"/>
              <a:t>年 </a:t>
            </a:r>
            <a:r>
              <a:rPr lang="en-US" altLang="zh-CN" dirty="0"/>
              <a:t>= 93,294,000 kWh/</a:t>
            </a:r>
            <a:r>
              <a:rPr lang="zh-CN" altLang="en-US" dirty="0"/>
              <a:t>年。</a:t>
            </a:r>
          </a:p>
          <a:p>
            <a:r>
              <a:rPr lang="zh-CN" altLang="en-US" dirty="0"/>
              <a:t>人均年能耗设定为</a:t>
            </a:r>
            <a:r>
              <a:rPr lang="en-US" altLang="zh-CN" dirty="0"/>
              <a:t>30,000 kWh/</a:t>
            </a:r>
            <a:r>
              <a:rPr lang="zh-CN" altLang="en-US" dirty="0"/>
              <a:t>人</a:t>
            </a:r>
            <a:r>
              <a:rPr lang="en-US" altLang="zh-CN" dirty="0"/>
              <a:t>/</a:t>
            </a:r>
            <a:r>
              <a:rPr lang="zh-CN" altLang="en-US" dirty="0"/>
              <a:t>年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如果人均能耗保持</a:t>
            </a:r>
            <a:r>
              <a:rPr lang="en-US" altLang="zh-CN" dirty="0"/>
              <a:t>30,000 kWh/</a:t>
            </a:r>
            <a:r>
              <a:rPr lang="zh-CN" altLang="en-US" dirty="0"/>
              <a:t>人</a:t>
            </a:r>
            <a:r>
              <a:rPr lang="en-US" altLang="zh-CN" dirty="0"/>
              <a:t>/</a:t>
            </a:r>
            <a:r>
              <a:rPr lang="zh-CN" altLang="en-US" dirty="0"/>
              <a:t>年，最大可容纳人数为：</a:t>
            </a:r>
            <a:br>
              <a:rPr lang="zh-CN" altLang="en-US" dirty="0"/>
            </a:br>
            <a:r>
              <a:rPr lang="en-US" altLang="zh-CN" dirty="0"/>
              <a:t>93,294,000 kWh / 30,000 kWh/</a:t>
            </a:r>
            <a:r>
              <a:rPr lang="zh-CN" altLang="en-US" dirty="0"/>
              <a:t>人 </a:t>
            </a:r>
            <a:r>
              <a:rPr lang="en-US" altLang="zh-CN" dirty="0"/>
              <a:t>= 3,109</a:t>
            </a:r>
            <a:r>
              <a:rPr lang="zh-CN" altLang="en-US" dirty="0"/>
              <a:t>人。</a:t>
            </a:r>
            <a:br>
              <a:rPr lang="zh-CN" altLang="en-US" dirty="0"/>
            </a:br>
            <a:r>
              <a:rPr lang="zh-CN" altLang="en-US" dirty="0"/>
              <a:t>因此，</a:t>
            </a:r>
            <a:r>
              <a:rPr lang="en-US" altLang="zh-CN" dirty="0"/>
              <a:t>2000</a:t>
            </a:r>
            <a:r>
              <a:rPr lang="zh-CN" altLang="en-US" dirty="0"/>
              <a:t>人完全可行，且有余量用于扩展或提高人均空间舒适度。</a:t>
            </a:r>
          </a:p>
        </p:txBody>
      </p:sp>
    </p:spTree>
    <p:extLst>
      <p:ext uri="{BB962C8B-B14F-4D97-AF65-F5344CB8AC3E}">
        <p14:creationId xmlns:p14="http://schemas.microsoft.com/office/powerpoint/2010/main" val="203435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9595E-2EDC-82F9-625F-7D7FBE661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空间分配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F11304-4AA8-0252-ADEC-4DF8A788D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b="1" dirty="0"/>
              <a:t>空间分配与建筑设计 </a:t>
            </a:r>
            <a:r>
              <a:rPr lang="en-US" altLang="zh-CN" b="1" dirty="0"/>
              <a:t>for 2000</a:t>
            </a:r>
            <a:r>
              <a:rPr lang="zh-CN" altLang="en-US" b="1" dirty="0"/>
              <a:t>人 </a:t>
            </a:r>
            <a:r>
              <a:rPr lang="en-US" altLang="zh-CN" b="1" dirty="0"/>
              <a:t>with </a:t>
            </a:r>
            <a:r>
              <a:rPr lang="zh-CN" altLang="en-US" b="1" dirty="0"/>
              <a:t>更大居住与公共空间</a:t>
            </a:r>
          </a:p>
          <a:p>
            <a:endParaRPr lang="en-US" altLang="zh-CN" b="1" dirty="0"/>
          </a:p>
          <a:p>
            <a:r>
              <a:rPr lang="zh-CN" altLang="en-US" b="1" dirty="0"/>
              <a:t>居住与公共空间</a:t>
            </a:r>
            <a:r>
              <a:rPr lang="zh-CN" altLang="en-US" dirty="0"/>
              <a:t>：</a:t>
            </a:r>
            <a:r>
              <a:rPr lang="en-US" altLang="zh-CN" b="1" dirty="0"/>
              <a:t>30%</a:t>
            </a:r>
            <a:r>
              <a:rPr lang="zh-CN" altLang="en-US" dirty="0"/>
              <a:t> </a:t>
            </a:r>
            <a:r>
              <a:rPr lang="en-US" altLang="zh-CN" dirty="0"/>
              <a:t>(300,000 m³) - </a:t>
            </a:r>
            <a:r>
              <a:rPr lang="zh-CN" altLang="en-US" dirty="0"/>
              <a:t>比之前增加</a:t>
            </a:r>
            <a:r>
              <a:rPr lang="en-US" altLang="zh-CN" dirty="0"/>
              <a:t>10%</a:t>
            </a:r>
            <a:r>
              <a:rPr lang="zh-CN" altLang="en-US" dirty="0"/>
              <a:t>，用于更宽敞的个人舱室和公共区域。人均</a:t>
            </a:r>
            <a:r>
              <a:rPr lang="en-US" altLang="zh-CN" dirty="0"/>
              <a:t>150 m³</a:t>
            </a:r>
            <a:r>
              <a:rPr lang="zh-CN" altLang="en-US" dirty="0"/>
              <a:t>（包括个人和公共空间），个人舱室可设计为</a:t>
            </a:r>
            <a:r>
              <a:rPr lang="en-US" altLang="zh-CN" dirty="0"/>
              <a:t>20-25 m³</a:t>
            </a:r>
            <a:r>
              <a:rPr lang="zh-CN" altLang="en-US" dirty="0"/>
              <a:t>，其余为公共空间如广场、公园、咖啡馆、图书馆等，促进社交和减少闭塞感。</a:t>
            </a:r>
          </a:p>
          <a:p>
            <a:r>
              <a:rPr lang="zh-CN" altLang="en-US" b="1" dirty="0"/>
              <a:t>能源与工业核心</a:t>
            </a:r>
            <a:r>
              <a:rPr lang="zh-CN" altLang="en-US" dirty="0"/>
              <a:t>：</a:t>
            </a:r>
            <a:r>
              <a:rPr lang="en-US" altLang="zh-CN" b="1" dirty="0"/>
              <a:t>20%</a:t>
            </a:r>
            <a:r>
              <a:rPr lang="zh-CN" altLang="en-US" dirty="0"/>
              <a:t> </a:t>
            </a:r>
            <a:r>
              <a:rPr lang="en-US" altLang="zh-CN" dirty="0"/>
              <a:t>(200,000 m³) - </a:t>
            </a:r>
            <a:r>
              <a:rPr lang="zh-CN" altLang="en-US" dirty="0"/>
              <a:t>因地热效率高，可略微减少空间，但仍确保稳定运行。</a:t>
            </a:r>
          </a:p>
          <a:p>
            <a:r>
              <a:rPr lang="zh-CN" altLang="en-US" b="1" dirty="0"/>
              <a:t>生命支持与农业</a:t>
            </a:r>
            <a:r>
              <a:rPr lang="zh-CN" altLang="en-US" dirty="0"/>
              <a:t>：</a:t>
            </a:r>
            <a:r>
              <a:rPr lang="en-US" altLang="zh-CN" b="1" dirty="0"/>
              <a:t>25%</a:t>
            </a:r>
            <a:r>
              <a:rPr lang="zh-CN" altLang="en-US" dirty="0"/>
              <a:t> </a:t>
            </a:r>
            <a:r>
              <a:rPr lang="en-US" altLang="zh-CN" dirty="0"/>
              <a:t>(250,000 m³) - </a:t>
            </a:r>
            <a:r>
              <a:rPr lang="zh-CN" altLang="en-US" dirty="0"/>
              <a:t>维持不变，确保食物、水和氧气自给。</a:t>
            </a:r>
          </a:p>
          <a:p>
            <a:r>
              <a:rPr lang="zh-CN" altLang="en-US" b="1" dirty="0"/>
              <a:t>仓储与物流</a:t>
            </a:r>
            <a:r>
              <a:rPr lang="zh-CN" altLang="en-US" dirty="0"/>
              <a:t>：</a:t>
            </a:r>
            <a:r>
              <a:rPr lang="en-US" altLang="zh-CN" b="1" dirty="0"/>
              <a:t>15%</a:t>
            </a:r>
            <a:r>
              <a:rPr lang="zh-CN" altLang="en-US" dirty="0"/>
              <a:t> </a:t>
            </a:r>
            <a:r>
              <a:rPr lang="en-US" altLang="zh-CN" dirty="0"/>
              <a:t>(150,000 m³) - </a:t>
            </a:r>
            <a:r>
              <a:rPr lang="zh-CN" altLang="en-US" dirty="0"/>
              <a:t>略微减少，因能量盈余可支持更高效的物流。</a:t>
            </a:r>
          </a:p>
          <a:p>
            <a:r>
              <a:rPr lang="zh-CN" altLang="en-US" b="1" dirty="0"/>
              <a:t>交通与连接</a:t>
            </a:r>
            <a:r>
              <a:rPr lang="zh-CN" altLang="en-US" dirty="0"/>
              <a:t>：</a:t>
            </a:r>
            <a:r>
              <a:rPr lang="en-US" altLang="zh-CN" b="1" dirty="0"/>
              <a:t>7%</a:t>
            </a:r>
            <a:r>
              <a:rPr lang="zh-CN" altLang="en-US" dirty="0"/>
              <a:t> </a:t>
            </a:r>
            <a:r>
              <a:rPr lang="en-US" altLang="zh-CN" dirty="0"/>
              <a:t>(70,000 m³) - </a:t>
            </a:r>
            <a:r>
              <a:rPr lang="zh-CN" altLang="en-US" dirty="0"/>
              <a:t>优化设计，减少通道空间。</a:t>
            </a:r>
          </a:p>
          <a:p>
            <a:r>
              <a:rPr lang="zh-CN" altLang="en-US" b="1" dirty="0"/>
              <a:t>研究与行政</a:t>
            </a:r>
            <a:r>
              <a:rPr lang="zh-CN" altLang="en-US" dirty="0"/>
              <a:t>：</a:t>
            </a:r>
            <a:r>
              <a:rPr lang="en-US" altLang="zh-CN" b="1" dirty="0"/>
              <a:t>3%</a:t>
            </a:r>
            <a:r>
              <a:rPr lang="zh-CN" altLang="en-US" dirty="0"/>
              <a:t> </a:t>
            </a:r>
            <a:r>
              <a:rPr lang="en-US" altLang="zh-CN" dirty="0"/>
              <a:t>(30,000 m³) - </a:t>
            </a:r>
            <a:r>
              <a:rPr lang="zh-CN" altLang="en-US" dirty="0"/>
              <a:t>减少空间，强调分布式决策而非集中管理。</a:t>
            </a:r>
          </a:p>
        </p:txBody>
      </p:sp>
    </p:spTree>
    <p:extLst>
      <p:ext uri="{BB962C8B-B14F-4D97-AF65-F5344CB8AC3E}">
        <p14:creationId xmlns:p14="http://schemas.microsoft.com/office/powerpoint/2010/main" val="110287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888</Words>
  <Application>Microsoft Office PowerPoint</Application>
  <PresentationFormat>宽屏</PresentationFormat>
  <Paragraphs>58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长白山火山口</vt:lpstr>
      <vt:lpstr>特色</vt:lpstr>
      <vt:lpstr>针对问题解决</vt:lpstr>
      <vt:lpstr>2.空气稀薄</vt:lpstr>
      <vt:lpstr>3.地震？灾害？</vt:lpstr>
      <vt:lpstr>4.水资源</vt:lpstr>
      <vt:lpstr>建筑布局</vt:lpstr>
      <vt:lpstr>能量计算</vt:lpstr>
      <vt:lpstr>空间分配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 Wong</dc:creator>
  <cp:lastModifiedBy>Vito Wong</cp:lastModifiedBy>
  <cp:revision>1</cp:revision>
  <dcterms:created xsi:type="dcterms:W3CDTF">2025-09-21T09:54:47Z</dcterms:created>
  <dcterms:modified xsi:type="dcterms:W3CDTF">2025-09-21T10:17:44Z</dcterms:modified>
</cp:coreProperties>
</file>